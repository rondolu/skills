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6720840" y="-228600"/>
            <a:ext cx="2331720" cy="2331720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3977639"/>
            <a:ext cx="1280160" cy="1280160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6583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51560"/>
            <a:ext cx="6583680" cy="76200"/>
          </a:xfrm>
          <a:prstGeom prst="rect">
            <a:avLst/>
          </a:prstGeom>
          <a:solidFill>
            <a:srgbClr val="38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216152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Arial"/>
              </a:rPr>
              <a:t>DATA PRODUCT INTRO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527048"/>
            <a:ext cx="53035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Arial"/>
              </a:rPr>
              <a:t>Yahoo Fantasy Baseball
Analyzer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807208"/>
            <a:ext cx="5669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8B06A"/>
                </a:solidFill>
                <a:latin typeface="Arial"/>
              </a:rPr>
              <a:t>介紹一個支援 H2H 雙模式、球員排行、對位比較與交易模擬的單頁分析平台。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5568" y="3264408"/>
            <a:ext cx="384048" cy="38100"/>
          </a:xfrm>
          <a:prstGeom prst="rect">
            <a:avLst/>
          </a:prstGeom>
          <a:solidFill>
            <a:srgbClr val="38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447288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8B06A"/>
                </a:solidFill>
                <a:latin typeface="Courier New"/>
              </a:rPr>
              <a:t>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703320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Single file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3447288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8B06A"/>
                </a:solidFill>
                <a:latin typeface="Courier New"/>
              </a:rPr>
              <a:t>MODES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3703320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Categories /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3447288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8B06A"/>
                </a:solidFill>
                <a:latin typeface="Courier New"/>
              </a:rPr>
              <a:t>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3703320"/>
            <a:ext cx="1691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Draft, FA, Trade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75488"/>
            <a:ext cx="7863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Arial"/>
              </a:rPr>
              <a:t>FEATURE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這個 HTML 網頁提供哪些能力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70432"/>
            <a:ext cx="7863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8B06A"/>
                </a:solidFill>
                <a:latin typeface="Arial"/>
              </a:rPr>
              <a:t>從資料匯入到交易決策，全部集中在同一個分析介面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1484985" cy="1353312"/>
          </a:xfrm>
          <a:prstGeom prst="rect">
            <a:avLst/>
          </a:prstGeom>
          <a:solidFill>
            <a:srgbClr val="D6F0E3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1484985" cy="50800"/>
          </a:xfrm>
          <a:prstGeom prst="rect">
            <a:avLst/>
          </a:prstGeom>
          <a:solidFill>
            <a:srgbClr val="38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8B06A"/>
                </a:solidFill>
                <a:latin typeface="Courier New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73936"/>
            <a:ext cx="130210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雙模式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84832"/>
            <a:ext cx="130210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H2H Categories 與 H2H Points 一鍵切換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17673" y="1371600"/>
            <a:ext cx="1484985" cy="13533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17673" y="1371600"/>
            <a:ext cx="1484985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09113" y="14813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8B06A"/>
                </a:solidFill>
                <a:latin typeface="Courier New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9113" y="1773936"/>
            <a:ext cx="130210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資料匯入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9113" y="2084832"/>
            <a:ext cx="130210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拖拉 CSV / JSON、多檔合併、貼上解析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12387" y="1371600"/>
            <a:ext cx="1484985" cy="13533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2387" y="1371600"/>
            <a:ext cx="1484985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03827" y="14813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8B06A"/>
                </a:solidFill>
                <a:latin typeface="Courier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3827" y="1773936"/>
            <a:ext cx="130210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打者排行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03827" y="2084832"/>
            <a:ext cx="130210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搜尋、守位、Fantasy 類型、排序與 Tier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07100" y="1371600"/>
            <a:ext cx="1484985" cy="13533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07100" y="1371600"/>
            <a:ext cx="1484985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98540" y="14813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8B06A"/>
                </a:solidFill>
                <a:latin typeface="Courier New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8540" y="1773936"/>
            <a:ext cx="130210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投手排行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98540" y="2084832"/>
            <a:ext cx="130210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SP / RP、風險權重、ERA / WHIP / K 類別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1814" y="1371600"/>
            <a:ext cx="1484985" cy="1353312"/>
          </a:xfrm>
          <a:prstGeom prst="rect">
            <a:avLst/>
          </a:prstGeom>
          <a:solidFill>
            <a:srgbClr val="FEF7D0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01814" y="1371600"/>
            <a:ext cx="1484985" cy="50800"/>
          </a:xfrm>
          <a:prstGeom prst="rect">
            <a:avLst/>
          </a:prstGeom>
          <a:solidFill>
            <a:srgbClr val="38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93254" y="148132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8B06A"/>
                </a:solidFill>
                <a:latin typeface="Courier New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3254" y="1773936"/>
            <a:ext cx="130210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KPI 篩選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3254" y="2084832"/>
            <a:ext cx="130210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快速聚焦 elite、multitool、closer、ace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2889504"/>
            <a:ext cx="1484985" cy="13533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2889504"/>
            <a:ext cx="1484985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299923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8B06A"/>
                </a:solidFill>
                <a:latin typeface="Courier New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291840"/>
            <a:ext cx="130210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欄位客製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602736"/>
            <a:ext cx="130210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欄位開關與 H2H 預設，表格可自由精簡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17673" y="2889504"/>
            <a:ext cx="1484985" cy="13533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17673" y="2889504"/>
            <a:ext cx="1484985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09113" y="299923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8B06A"/>
                </a:solidFill>
                <a:latin typeface="Courier New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09113" y="3291840"/>
            <a:ext cx="130210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觀察名單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09113" y="3602736"/>
            <a:ext cx="130210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星號收藏與 localStorage 持久化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12387" y="2889504"/>
            <a:ext cx="1484985" cy="13533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12387" y="2889504"/>
            <a:ext cx="1484985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03827" y="299923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8B06A"/>
                </a:solidFill>
                <a:latin typeface="Courier New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03827" y="3291840"/>
            <a:ext cx="130210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對位分析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03827" y="3602736"/>
            <a:ext cx="130210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雙球員卡片、雷達圖、洞察文字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07100" y="2889504"/>
            <a:ext cx="1484985" cy="1353312"/>
          </a:xfrm>
          <a:prstGeom prst="rect">
            <a:avLst/>
          </a:prstGeom>
          <a:solidFill>
            <a:srgbClr val="FEF7D0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07100" y="2889504"/>
            <a:ext cx="1484985" cy="50800"/>
          </a:xfrm>
          <a:prstGeom prst="rect">
            <a:avLst/>
          </a:prstGeom>
          <a:solidFill>
            <a:srgbClr val="38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98540" y="299923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8B06A"/>
                </a:solidFill>
                <a:latin typeface="Courier New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98540" y="3291840"/>
            <a:ext cx="130210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交易模擬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98540" y="3602736"/>
            <a:ext cx="130210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Give / Receive 名單、價值差與風險差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01814" y="2889504"/>
            <a:ext cx="1484985" cy="135331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201814" y="2889504"/>
            <a:ext cx="1484985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93254" y="299923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38B06A"/>
                </a:solidFill>
                <a:latin typeface="Courier New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93254" y="3291840"/>
            <a:ext cx="130210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回應式 UI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93254" y="3602736"/>
            <a:ext cx="130210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深色 dashboard 視覺與桌機 / 行動版適配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75488"/>
            <a:ext cx="7863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Arial"/>
              </a:rPr>
              <a:t>RUNTIME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核心運作原理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70432"/>
            <a:ext cx="7863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8B06A"/>
                </a:solidFill>
                <a:latin typeface="Arial"/>
              </a:rPr>
              <a:t>資料流、狀態與視圖重新整理的關係，全部寫在單一 HTML 內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2904927" cy="3337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2904927" cy="50800"/>
          </a:xfrm>
          <a:prstGeom prst="rect">
            <a:avLst/>
          </a:prstGeom>
          <a:solidFill>
            <a:srgbClr val="38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536192"/>
            <a:ext cx="261231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38B06A"/>
                </a:solidFill>
                <a:latin typeface="Courier New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938528"/>
            <a:ext cx="2612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Input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304288"/>
            <a:ext cx="261231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支援預設資料、CSV / JSON 上傳、文字貼上與本地 Yahoo 匯出自動載入。
parseCsv / parseJson / applyParsedData 會把資料整理成 batters 與 pitchers 兩個 pool。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37615" y="1371600"/>
            <a:ext cx="998568" cy="3337560"/>
          </a:xfrm>
          <a:prstGeom prst="rect">
            <a:avLst/>
          </a:prstGeom>
          <a:solidFill>
            <a:srgbClr val="D6F0E3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37615" y="1371600"/>
            <a:ext cx="998568" cy="50800"/>
          </a:xfrm>
          <a:prstGeom prst="rect">
            <a:avLst/>
          </a:prstGeom>
          <a:solidFill>
            <a:srgbClr val="38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3919" y="1536192"/>
            <a:ext cx="705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38B06A"/>
                </a:solidFill>
                <a:latin typeface="Courier New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3919" y="1938528"/>
            <a:ext cx="70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Modes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3919" y="2304288"/>
            <a:ext cx="7059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Courier New"/>
              </a:rPr>
              <a:t>CATS
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45912" y="1371600"/>
            <a:ext cx="998568" cy="3337560"/>
          </a:xfrm>
          <a:prstGeom prst="rect">
            <a:avLst/>
          </a:prstGeom>
          <a:solidFill>
            <a:srgbClr val="FEF7D0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45912" y="1371600"/>
            <a:ext cx="998568" cy="50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2216" y="1536192"/>
            <a:ext cx="705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C518"/>
                </a:solidFill>
                <a:latin typeface="Courier New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2216" y="1938528"/>
            <a:ext cx="70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Tabs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2216" y="2304288"/>
            <a:ext cx="7059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Courier New"/>
              </a:rPr>
              <a:t>BAT
PIT
CMP
TRD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54209" y="1371600"/>
            <a:ext cx="2632590" cy="3337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54209" y="1371600"/>
            <a:ext cx="2632590" cy="50800"/>
          </a:xfrm>
          <a:prstGeom prst="rect">
            <a:avLst/>
          </a:prstGeom>
          <a:solidFill>
            <a:srgbClr val="2E9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0513" y="1536192"/>
            <a:ext cx="233998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E9459"/>
                </a:solidFill>
                <a:latin typeface="Courier New"/>
              </a:rPr>
              <a:t>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0513" y="1938528"/>
            <a:ext cx="23399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Decision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0513" y="2304288"/>
            <a:ext cx="233998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computeAllScores() 重新計算 valueScore / riskScore，
rebuildUi() 再依序 renderBatters、renderPitchers、renderCompare、calcTrade。
模式、排序、欄位、KPI、觀察名單都會回到同一個狀態中心。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75488"/>
            <a:ext cx="7863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Arial"/>
              </a:rPr>
              <a:t>TOP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最值得 demo 的 10 個頁面亮點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70432"/>
            <a:ext cx="7863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8B06A"/>
                </a:solidFill>
                <a:latin typeface="Arial"/>
              </a:rPr>
              <a:t>依實際互動價值排序，方便口頭展示時抓節奏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3849624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3849624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63040"/>
            <a:ext cx="329184" cy="329184"/>
          </a:xfrm>
          <a:prstGeom prst="rect">
            <a:avLst/>
          </a:prstGeom>
          <a:solidFill>
            <a:srgbClr val="38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329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144475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Mode Switch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1645920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Courier New"/>
              </a:rPr>
              <a:t>ENTRY / RULESET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1444752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38B06A"/>
                </a:solidFill>
                <a:latin typeface="Courier New"/>
              </a:rPr>
              <a:t>96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59352" y="1682496"/>
            <a:ext cx="566928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59352" y="1682496"/>
            <a:ext cx="544250" cy="50800"/>
          </a:xfrm>
          <a:prstGeom prst="rect">
            <a:avLst/>
          </a:prstGeom>
          <a:solidFill>
            <a:srgbClr val="38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011680"/>
            <a:ext cx="3849624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2011680"/>
            <a:ext cx="3849624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103120"/>
            <a:ext cx="329184" cy="329184"/>
          </a:xfrm>
          <a:prstGeom prst="rect">
            <a:avLst/>
          </a:prstGeom>
          <a:solidFill>
            <a:srgbClr val="38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121408"/>
            <a:ext cx="329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urier New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208483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Import Zone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2286000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Courier New"/>
              </a:rPr>
              <a:t>DATA / CSV / 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22776" y="2084832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38B06A"/>
                </a:solidFill>
                <a:latin typeface="Courier New"/>
              </a:rPr>
              <a:t>94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59352" y="2322576"/>
            <a:ext cx="566928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59352" y="2322576"/>
            <a:ext cx="532912" cy="50800"/>
          </a:xfrm>
          <a:prstGeom prst="rect">
            <a:avLst/>
          </a:prstGeom>
          <a:solidFill>
            <a:srgbClr val="38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2651760"/>
            <a:ext cx="3849624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2651760"/>
            <a:ext cx="3849624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2743200"/>
            <a:ext cx="329184" cy="329184"/>
          </a:xfrm>
          <a:prstGeom prst="rect">
            <a:avLst/>
          </a:prstGeom>
          <a:solidFill>
            <a:srgbClr val="2E9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2761488"/>
            <a:ext cx="329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urier New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5024" y="272491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Batter Filters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5024" y="2926080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Courier New"/>
              </a:rPr>
              <a:t>BAT / SEARCH / KPI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22776" y="2724912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2E9459"/>
                </a:solidFill>
                <a:latin typeface="Courier New"/>
              </a:rPr>
              <a:t>92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59352" y="2962656"/>
            <a:ext cx="566928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59352" y="2962656"/>
            <a:ext cx="521573" cy="50800"/>
          </a:xfrm>
          <a:prstGeom prst="rect">
            <a:avLst/>
          </a:prstGeom>
          <a:solidFill>
            <a:srgbClr val="2E9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" y="3291840"/>
            <a:ext cx="3849624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" y="3291840"/>
            <a:ext cx="3849624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3383280"/>
            <a:ext cx="329184" cy="329184"/>
          </a:xfrm>
          <a:prstGeom prst="rect">
            <a:avLst/>
          </a:prstGeom>
          <a:solidFill>
            <a:srgbClr val="2E9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3401568"/>
            <a:ext cx="329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urier New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5024" y="336499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Pitcher Risk Tuning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5024" y="3566160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Courier New"/>
              </a:rPr>
              <a:t>PIT / WEIGHTS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2776" y="3364992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2E9459"/>
                </a:solidFill>
                <a:latin typeface="Courier New"/>
              </a:rPr>
              <a:t>90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59352" y="3602736"/>
            <a:ext cx="566928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59352" y="3602736"/>
            <a:ext cx="510235" cy="50800"/>
          </a:xfrm>
          <a:prstGeom prst="rect">
            <a:avLst/>
          </a:prstGeom>
          <a:solidFill>
            <a:srgbClr val="2E9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" y="3931920"/>
            <a:ext cx="3849624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" y="3931920"/>
            <a:ext cx="3849624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" y="4023360"/>
            <a:ext cx="329184" cy="329184"/>
          </a:xfrm>
          <a:prstGeom prst="rect">
            <a:avLst/>
          </a:prstGeom>
          <a:solidFill>
            <a:srgbClr val="21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041648"/>
            <a:ext cx="329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urier New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35024" y="400507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Tiered Table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35024" y="4206240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Courier New"/>
              </a:rPr>
              <a:t>VAL / RISK / TIER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22776" y="4005072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217A4A"/>
                </a:solidFill>
                <a:latin typeface="Courier New"/>
              </a:rPr>
              <a:t>88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59352" y="4242816"/>
            <a:ext cx="566928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959352" y="4242816"/>
            <a:ext cx="498896" cy="50800"/>
          </a:xfrm>
          <a:prstGeom prst="rect">
            <a:avLst/>
          </a:prstGeom>
          <a:solidFill>
            <a:srgbClr val="21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37176" y="1371600"/>
            <a:ext cx="3849624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37176" y="1371600"/>
            <a:ext cx="3849624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28616" y="1463040"/>
            <a:ext cx="329184" cy="32918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28616" y="1481328"/>
            <a:ext cx="329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urier New"/>
              </a:rPr>
              <a:t>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49240" y="144475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Column Presets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49240" y="1645920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Courier New"/>
              </a:rPr>
              <a:t>TABLE / H2H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36992" y="1444752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F5C518"/>
                </a:solidFill>
                <a:latin typeface="Courier New"/>
              </a:rPr>
              <a:t>86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73568" y="1682496"/>
            <a:ext cx="566928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973568" y="1682496"/>
            <a:ext cx="487558" cy="50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837176" y="2011680"/>
            <a:ext cx="3849624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37176" y="2011680"/>
            <a:ext cx="3849624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928616" y="2103120"/>
            <a:ext cx="329184" cy="32918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28616" y="2121408"/>
            <a:ext cx="329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urier New"/>
              </a:rPr>
              <a:t>07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49240" y="208483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Watchlist Star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49240" y="2286000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Courier New"/>
              </a:rPr>
              <a:t>LOCAL STORAGE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36992" y="2084832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F5C518"/>
                </a:solidFill>
                <a:latin typeface="Courier New"/>
              </a:rPr>
              <a:t>84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73568" y="2322576"/>
            <a:ext cx="566928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973568" y="2322576"/>
            <a:ext cx="476219" cy="50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837176" y="2651760"/>
            <a:ext cx="3849624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837176" y="2651760"/>
            <a:ext cx="3849624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928616" y="2743200"/>
            <a:ext cx="329184" cy="329184"/>
          </a:xfrm>
          <a:prstGeom prst="rect">
            <a:avLst/>
          </a:prstGeom>
          <a:solidFill>
            <a:srgbClr val="38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28616" y="2761488"/>
            <a:ext cx="329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urier New"/>
              </a:rPr>
              <a:t>08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49240" y="272491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Radar Compare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49240" y="2926080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Courier New"/>
              </a:rPr>
              <a:t>CMP / CANVAS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36992" y="2724912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38B06A"/>
                </a:solidFill>
                <a:latin typeface="Courier New"/>
              </a:rPr>
              <a:t>82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973568" y="2962656"/>
            <a:ext cx="566928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973568" y="2962656"/>
            <a:ext cx="464880" cy="50800"/>
          </a:xfrm>
          <a:prstGeom prst="rect">
            <a:avLst/>
          </a:prstGeom>
          <a:solidFill>
            <a:srgbClr val="38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837176" y="3291840"/>
            <a:ext cx="3849624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837176" y="3291840"/>
            <a:ext cx="3849624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928616" y="3383280"/>
            <a:ext cx="329184" cy="329184"/>
          </a:xfrm>
          <a:prstGeom prst="rect">
            <a:avLst/>
          </a:prstGeom>
          <a:solidFill>
            <a:srgbClr val="F758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28616" y="3401568"/>
            <a:ext cx="329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urier New"/>
              </a:rPr>
              <a:t>09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49240" y="336499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Trade Verdict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49240" y="3566160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Courier New"/>
              </a:rPr>
              <a:t>TRD / WIN LOSE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36992" y="3364992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F75801"/>
                </a:solidFill>
                <a:latin typeface="Courier New"/>
              </a:rPr>
              <a:t>80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73568" y="3602736"/>
            <a:ext cx="566928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73568" y="3602736"/>
            <a:ext cx="453542" cy="50800"/>
          </a:xfrm>
          <a:prstGeom prst="rect">
            <a:avLst/>
          </a:prstGeom>
          <a:solidFill>
            <a:srgbClr val="F758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837176" y="3931920"/>
            <a:ext cx="3849624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837176" y="3931920"/>
            <a:ext cx="3849624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928616" y="4023360"/>
            <a:ext cx="329184" cy="329184"/>
          </a:xfrm>
          <a:prstGeom prst="rect">
            <a:avLst/>
          </a:prstGeom>
          <a:solidFill>
            <a:srgbClr val="F758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928616" y="4041648"/>
            <a:ext cx="329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urier New"/>
              </a:rPr>
              <a:t>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49240" y="4005072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Auto Load CSV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49240" y="4206240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Courier New"/>
              </a:rPr>
              <a:t>BOOT / FILE IO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36992" y="4005072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F75801"/>
                </a:solidFill>
                <a:latin typeface="Courier New"/>
              </a:rPr>
              <a:t>78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73568" y="4242816"/>
            <a:ext cx="566928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973568" y="4242816"/>
            <a:ext cx="442203" cy="50800"/>
          </a:xfrm>
          <a:prstGeom prst="rect">
            <a:avLst/>
          </a:prstGeom>
          <a:solidFill>
            <a:srgbClr val="F758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75488"/>
            <a:ext cx="7863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Arial"/>
              </a:rPr>
              <a:t>PRIMARY TABS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四個主頁籤，對應四種決策任務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70432"/>
            <a:ext cx="7863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8B06A"/>
                </a:solidFill>
                <a:latin typeface="Arial"/>
              </a:rPr>
              <a:t>每張卡片代表一個核心使用情境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1869948" cy="324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1869948" cy="50800"/>
          </a:xfrm>
          <a:prstGeom prst="rect">
            <a:avLst/>
          </a:prstGeom>
          <a:solidFill>
            <a:srgbClr val="38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16504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38B06A"/>
                </a:solidFill>
                <a:latin typeface="Courier New"/>
              </a:rPr>
              <a:t>BAT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83664"/>
            <a:ext cx="16504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打者排行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67712"/>
            <a:ext cx="16504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搜尋球員或球隊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15184"/>
            <a:ext cx="16504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依守位與 Fantasy 類型過濾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62656"/>
            <a:ext cx="16504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查看 AVG / OBP / OPS / SB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310128"/>
            <a:ext cx="16504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用 KPI 快速找跑打兼具與 elite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657600"/>
            <a:ext cx="16504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支援欄位顯示切換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4114800"/>
            <a:ext cx="1650492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206240"/>
            <a:ext cx="16504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Arial"/>
              </a:rPr>
              <a:t>找打者補強與撿 FA 的主畫面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20924" y="1371600"/>
            <a:ext cx="1869948" cy="324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20924" y="1371600"/>
            <a:ext cx="1869948" cy="50800"/>
          </a:xfrm>
          <a:prstGeom prst="rect">
            <a:avLst/>
          </a:prstGeom>
          <a:solidFill>
            <a:srgbClr val="2E9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0652" y="1536192"/>
            <a:ext cx="16504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E9459"/>
                </a:solidFill>
                <a:latin typeface="Courier New"/>
              </a:rPr>
              <a:t>PIT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0652" y="1883664"/>
            <a:ext cx="16504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投手排行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0652" y="2267712"/>
            <a:ext cx="16504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SP / RP 分開篩選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0652" y="2615184"/>
            <a:ext cx="16504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可調 SP / RP 風險權重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0652" y="2962656"/>
            <a:ext cx="16504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查看 ERA / WHIP / K/9 / QS / SVH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0652" y="3310128"/>
            <a:ext cx="16504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用 closer / ace KPI 快速聚焦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30652" y="3657600"/>
            <a:ext cx="16504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評分模式隨玩法同步切換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30652" y="4114800"/>
            <a:ext cx="1650492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30652" y="4206240"/>
            <a:ext cx="16504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Arial"/>
              </a:rPr>
              <a:t>處理投手配置與風險控制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18888" y="1371600"/>
            <a:ext cx="1869948" cy="324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18888" y="1371600"/>
            <a:ext cx="1869948" cy="50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28616" y="1536192"/>
            <a:ext cx="16504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C518"/>
                </a:solidFill>
                <a:latin typeface="Courier New"/>
              </a:rPr>
              <a:t>CMP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28616" y="1883664"/>
            <a:ext cx="16504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對位分析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28616" y="2267712"/>
            <a:ext cx="16504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球員 A / B 可各自選打者或投手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28616" y="2615184"/>
            <a:ext cx="16504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搜尋即時縮小候選名單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28616" y="2962656"/>
            <a:ext cx="16504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卡片摘要顯示關鍵資料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28616" y="3310128"/>
            <a:ext cx="16504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Canvas 雷達圖與長條圖比較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28616" y="3657600"/>
            <a:ext cx="16504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insight 區給出文字洞察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28616" y="4114800"/>
            <a:ext cx="1650492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28616" y="4206240"/>
            <a:ext cx="16504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Arial"/>
              </a:rPr>
              <a:t>用來處理二選一與 waiver 決策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6852" y="1371600"/>
            <a:ext cx="1869948" cy="324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16852" y="1371600"/>
            <a:ext cx="1869948" cy="50800"/>
          </a:xfrm>
          <a:prstGeom prst="rect">
            <a:avLst/>
          </a:prstGeom>
          <a:solidFill>
            <a:srgbClr val="F758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26580" y="1536192"/>
            <a:ext cx="16504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75801"/>
                </a:solidFill>
                <a:latin typeface="Courier New"/>
              </a:rPr>
              <a:t>TRD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26580" y="1883664"/>
            <a:ext cx="16504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交易模擬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26580" y="2267712"/>
            <a:ext cx="16504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Give / Receive 兩側清單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26580" y="2615184"/>
            <a:ext cx="16504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搜尋後直接加入名單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26580" y="2962656"/>
            <a:ext cx="16504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即時重算總價值與平均風險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26580" y="3310128"/>
            <a:ext cx="16504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用 verdict box 顯示 Win / Lose / Even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26580" y="3657600"/>
            <a:ext cx="16504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橫條圖呈現雙方落差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26580" y="4114800"/>
            <a:ext cx="1650492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26580" y="4206240"/>
            <a:ext cx="16504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Arial"/>
              </a:rPr>
              <a:t>用於談判前的交易估值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475488"/>
            <a:ext cx="7863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Arial"/>
              </a:rPr>
              <a:t>VISUAL +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Arial"/>
              </a:rPr>
              <a:t>頁面風格與前端架構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70432"/>
            <a:ext cx="7863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8B06A"/>
                </a:solidFill>
                <a:latin typeface="Arial"/>
              </a:rPr>
              <a:t>左邊講設計語言，右邊把 HTML 內的狀態與 render 關係畫出來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278892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2788920" cy="50800"/>
          </a:xfrm>
          <a:prstGeom prst="rect">
            <a:avLst/>
          </a:prstGeom>
          <a:solidFill>
            <a:srgbClr val="38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517904"/>
            <a:ext cx="24963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視覺設計語言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810512"/>
            <a:ext cx="24963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深色 dashboard 背景 + 亮色發光重點
hero、tab、panel、table 四層結構分明
以 CSS 變數維持色彩與間距一致
桌機與行動版都保留主要分析流程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16936"/>
            <a:ext cx="278892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916936"/>
            <a:ext cx="2788920" cy="508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063240"/>
            <a:ext cx="24963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Arial"/>
              </a:rPr>
              <a:t>資料模型與互動狀態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355848"/>
            <a:ext cx="249631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batters / pitchers 作為主資料池
bState / pState 管控搜尋、排序、KPI 篩選
tradeState 管理交易雙方名單
watchlist 與 localStorage 讓標記結果可持久保存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31336" y="1371600"/>
            <a:ext cx="4855464" cy="3191256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31336" y="1371600"/>
            <a:ext cx="4855464" cy="50800"/>
          </a:xfrm>
          <a:prstGeom prst="rect">
            <a:avLst/>
          </a:prstGeom>
          <a:solidFill>
            <a:srgbClr val="2E9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536192"/>
            <a:ext cx="4526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9459"/>
                </a:solidFill>
                <a:latin typeface="Courier New"/>
              </a:rPr>
              <a:t>APP FLOW / ONE FILE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95928" y="1847088"/>
            <a:ext cx="1447800" cy="841248"/>
          </a:xfrm>
          <a:prstGeom prst="rect">
            <a:avLst/>
          </a:prstGeom>
          <a:solidFill>
            <a:srgbClr val="D6F0E3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95928" y="1847088"/>
            <a:ext cx="1447800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87368" y="1938528"/>
            <a:ext cx="1264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ourier New"/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2157984"/>
            <a:ext cx="12649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Courier New"/>
              </a:rPr>
              <a:t>fileInput
pasteArea
autoLoadLocalExports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5168" y="1847088"/>
            <a:ext cx="1447800" cy="841248"/>
          </a:xfrm>
          <a:prstGeom prst="rect">
            <a:avLst/>
          </a:prstGeom>
          <a:solidFill>
            <a:srgbClr val="FEF7D0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35168" y="1847088"/>
            <a:ext cx="1447800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6608" y="1938528"/>
            <a:ext cx="1264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ourier New"/>
              </a:rPr>
              <a:t>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6608" y="2157984"/>
            <a:ext cx="12649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Courier New"/>
              </a:rPr>
              <a:t>bState
pState
tradeState
watchlist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74408" y="1847088"/>
            <a:ext cx="1447800" cy="841248"/>
          </a:xfrm>
          <a:prstGeom prst="rect">
            <a:avLst/>
          </a:prstGeom>
          <a:solidFill>
            <a:srgbClr val="D6F0E3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74408" y="1847088"/>
            <a:ext cx="1447800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65848" y="1938528"/>
            <a:ext cx="1264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ourier New"/>
              </a:rPr>
              <a:t>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5848" y="2157984"/>
            <a:ext cx="12649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Courier New"/>
              </a:rPr>
              <a:t>computeBatterScores
computePitcherScores
computeAllScores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95928" y="2852928"/>
            <a:ext cx="4526280" cy="786384"/>
          </a:xfrm>
          <a:prstGeom prst="rect">
            <a:avLst/>
          </a:prstGeom>
          <a:solidFill>
            <a:srgbClr val="EFEFE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95928" y="2852928"/>
            <a:ext cx="4526280" cy="50800"/>
          </a:xfrm>
          <a:prstGeom prst="rect">
            <a:avLst/>
          </a:prstGeom>
          <a:solidFill>
            <a:srgbClr val="38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05656" y="3108960"/>
            <a:ext cx="43068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ourier New"/>
              </a:rPr>
              <a:t>rebuildUi()  -&gt;  renderBatters() / renderPitchers() / renderCompare() / calcTrade()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95928" y="3840480"/>
            <a:ext cx="1447800" cy="841248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95928" y="3840480"/>
            <a:ext cx="1447800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87368" y="3931920"/>
            <a:ext cx="1264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ourier New"/>
              </a:rPr>
              <a:t>BATTERS 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87368" y="4169664"/>
            <a:ext cx="1264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table + KPI filters + watch star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35168" y="3840480"/>
            <a:ext cx="1447800" cy="841248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35168" y="3840480"/>
            <a:ext cx="1447800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26608" y="3931920"/>
            <a:ext cx="1264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ourier New"/>
              </a:rPr>
              <a:t>PITCHERS 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6608" y="4169664"/>
            <a:ext cx="1264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risk tuning + table presets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74408" y="3840480"/>
            <a:ext cx="1447800" cy="841248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74408" y="3840480"/>
            <a:ext cx="1447800" cy="50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65848" y="3931920"/>
            <a:ext cx="1264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ourier New"/>
              </a:rPr>
              <a:t>DECISION 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65848" y="4169664"/>
            <a:ext cx="1264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A4A4A"/>
                </a:solidFill>
                <a:latin typeface="Arial"/>
              </a:rPr>
              <a:t>compare canvas + trade verdict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360920" y="3703320"/>
            <a:ext cx="1920240" cy="1920240"/>
          </a:xfrm>
          <a:prstGeom prst="ellipse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7863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Arial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78638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Arial"/>
              </a:rPr>
              <a:t>一個單檔 HTML，完成 Fantasy Baseball 的完整決策鏈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7863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A4A4A"/>
                </a:solidFill>
                <a:latin typeface="Arial"/>
              </a:rPr>
              <a:t>它把資料匯入、雙模式評分、排行榜、球員比較與交易模擬整合在同一個介面，
適合拿來展示資料產品思維、前端狀態管理，以及夢幻聯盟決策工具的產品化方式。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95728"/>
            <a:ext cx="384048" cy="38100"/>
          </a:xfrm>
          <a:prstGeom prst="rect">
            <a:avLst/>
          </a:prstGeom>
          <a:solidFill>
            <a:srgbClr val="38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38B06A"/>
                </a:solidFill>
                <a:latin typeface="Courier New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Arial"/>
              </a:rPr>
              <a:t>GAME MODES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2888" y="3337560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38B06A"/>
                </a:solidFill>
                <a:latin typeface="Courier New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3776472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Arial"/>
              </a:rPr>
              <a:t>PRIMARY TABS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2816" y="3337560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38B06A"/>
                </a:solidFill>
                <a:latin typeface="Courier New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2816" y="3776472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Arial"/>
              </a:rPr>
              <a:t>PLAYER POOLS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2744" y="3337560"/>
            <a:ext cx="15087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38B06A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2744" y="3776472"/>
            <a:ext cx="1508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E9E9E"/>
                </a:solidFill>
                <a:latin typeface="Arial"/>
              </a:rPr>
              <a:t>HTML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